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64" r:id="rId4"/>
    <p:sldId id="265" r:id="rId5"/>
    <p:sldId id="266" r:id="rId6"/>
    <p:sldId id="267" r:id="rId7"/>
    <p:sldId id="274" r:id="rId8"/>
    <p:sldId id="268" r:id="rId9"/>
    <p:sldId id="273" r:id="rId10"/>
    <p:sldId id="269" r:id="rId11"/>
    <p:sldId id="276" r:id="rId12"/>
    <p:sldId id="277" r:id="rId13"/>
    <p:sldId id="275" r:id="rId14"/>
    <p:sldId id="270" r:id="rId15"/>
    <p:sldId id="279" r:id="rId16"/>
    <p:sldId id="280" r:id="rId17"/>
    <p:sldId id="278" r:id="rId18"/>
    <p:sldId id="271" r:id="rId19"/>
    <p:sldId id="272" r:id="rId20"/>
    <p:sldId id="263" r:id="rId21"/>
  </p:sldIdLst>
  <p:sldSz cx="18288000" cy="10287000"/>
  <p:notesSz cx="6858000" cy="9144000"/>
  <p:embeddedFontLst>
    <p:embeddedFont>
      <p:font typeface="Arial Black" panose="020B0A04020102020204" pitchFamily="34" charset="0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6D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EDF94-A241-420E-A2ED-F80FA9455F3E}" v="431" dt="2024-03-26T00:14:41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1"/>
    <p:restoredTop sz="94692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as Dartora" userId="f7cc721436d0444a" providerId="LiveId" clId="{ACCEDF94-A241-420E-A2ED-F80FA9455F3E}"/>
    <pc:docChg chg="addSld modSld">
      <pc:chgData name="Lucas Dartora" userId="f7cc721436d0444a" providerId="LiveId" clId="{ACCEDF94-A241-420E-A2ED-F80FA9455F3E}" dt="2024-03-26T00:14:41.472" v="489" actId="20577"/>
      <pc:docMkLst>
        <pc:docMk/>
      </pc:docMkLst>
      <pc:sldChg chg="modSp mod">
        <pc:chgData name="Lucas Dartora" userId="f7cc721436d0444a" providerId="LiveId" clId="{ACCEDF94-A241-420E-A2ED-F80FA9455F3E}" dt="2024-03-26T00:07:54.064" v="7" actId="20577"/>
        <pc:sldMkLst>
          <pc:docMk/>
          <pc:sldMk cId="0" sldId="257"/>
        </pc:sldMkLst>
        <pc:spChg chg="mod">
          <ac:chgData name="Lucas Dartora" userId="f7cc721436d0444a" providerId="LiveId" clId="{ACCEDF94-A241-420E-A2ED-F80FA9455F3E}" dt="2024-03-26T00:07:54.064" v="7" actId="20577"/>
          <ac:spMkLst>
            <pc:docMk/>
            <pc:sldMk cId="0" sldId="257"/>
            <ac:spMk id="11" creationId="{00000000-0000-0000-0000-000000000000}"/>
          </ac:spMkLst>
        </pc:spChg>
      </pc:sldChg>
      <pc:sldChg chg="modSp add mod">
        <pc:chgData name="Lucas Dartora" userId="f7cc721436d0444a" providerId="LiveId" clId="{ACCEDF94-A241-420E-A2ED-F80FA9455F3E}" dt="2024-03-26T00:08:17.226" v="58" actId="20577"/>
        <pc:sldMkLst>
          <pc:docMk/>
          <pc:sldMk cId="3056300743" sldId="264"/>
        </pc:sldMkLst>
        <pc:spChg chg="mod">
          <ac:chgData name="Lucas Dartora" userId="f7cc721436d0444a" providerId="LiveId" clId="{ACCEDF94-A241-420E-A2ED-F80FA9455F3E}" dt="2024-03-26T00:08:04.371" v="30" actId="20577"/>
          <ac:spMkLst>
            <pc:docMk/>
            <pc:sldMk cId="3056300743" sldId="264"/>
            <ac:spMk id="11" creationId="{00000000-0000-0000-0000-000000000000}"/>
          </ac:spMkLst>
        </pc:spChg>
        <pc:spChg chg="mod">
          <ac:chgData name="Lucas Dartora" userId="f7cc721436d0444a" providerId="LiveId" clId="{ACCEDF94-A241-420E-A2ED-F80FA9455F3E}" dt="2024-03-26T00:08:17.226" v="58" actId="20577"/>
          <ac:spMkLst>
            <pc:docMk/>
            <pc:sldMk cId="3056300743" sldId="264"/>
            <ac:spMk id="106" creationId="{00000000-0000-0000-0000-000000000000}"/>
          </ac:spMkLst>
        </pc:spChg>
      </pc:sldChg>
      <pc:sldChg chg="modSp add mod">
        <pc:chgData name="Lucas Dartora" userId="f7cc721436d0444a" providerId="LiveId" clId="{ACCEDF94-A241-420E-A2ED-F80FA9455F3E}" dt="2024-03-26T00:14:41.472" v="489" actId="20577"/>
        <pc:sldMkLst>
          <pc:docMk/>
          <pc:sldMk cId="1918724868" sldId="265"/>
        </pc:sldMkLst>
        <pc:spChg chg="mod">
          <ac:chgData name="Lucas Dartora" userId="f7cc721436d0444a" providerId="LiveId" clId="{ACCEDF94-A241-420E-A2ED-F80FA9455F3E}" dt="2024-03-26T00:11:12.833" v="485" actId="20577"/>
          <ac:spMkLst>
            <pc:docMk/>
            <pc:sldMk cId="1918724868" sldId="265"/>
            <ac:spMk id="10" creationId="{00000000-0000-0000-0000-000000000000}"/>
          </ac:spMkLst>
        </pc:spChg>
        <pc:spChg chg="mod">
          <ac:chgData name="Lucas Dartora" userId="f7cc721436d0444a" providerId="LiveId" clId="{ACCEDF94-A241-420E-A2ED-F80FA9455F3E}" dt="2024-03-26T00:09:22.008" v="87" actId="20577"/>
          <ac:spMkLst>
            <pc:docMk/>
            <pc:sldMk cId="1918724868" sldId="265"/>
            <ac:spMk id="11" creationId="{00000000-0000-0000-0000-000000000000}"/>
          </ac:spMkLst>
        </pc:spChg>
        <pc:spChg chg="mod">
          <ac:chgData name="Lucas Dartora" userId="f7cc721436d0444a" providerId="LiveId" clId="{ACCEDF94-A241-420E-A2ED-F80FA9455F3E}" dt="2024-03-26T00:14:41.472" v="489" actId="20577"/>
          <ac:spMkLst>
            <pc:docMk/>
            <pc:sldMk cId="1918724868" sldId="265"/>
            <ac:spMk id="10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483461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7068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13063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44729ECB-1AED-A22A-B5B9-7B796F43D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8FEF25B4-62E9-C4C6-0D76-59E56A056D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C9A01DC7-53EC-5875-B4E7-4058B19A67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4840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9DCDF770-CE6B-D0C9-1FA4-FDDD1AB2F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56E79DEE-5211-EAA2-72FF-CAFB3E0CB1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CD480F62-9E6D-DA63-088A-DFFC127F8D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26245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665160C7-8527-D9A9-3A5E-343A3C326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72727EE3-7D47-3EA1-8CD7-9025A7CBE4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AADC290F-8ED6-5636-1ADF-7E8FB7D5C4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542636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5B0B0D01-5E76-CD38-CE47-48681E1A6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C69CA8F3-3E1A-303E-82A1-FE54E1EED2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C81BA8D1-8F90-D2DF-9E16-69037A00C6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0423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3D7BAA1B-5511-99CA-04D9-07FB04023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9B437BA2-DE41-5C82-CAE4-A21AE8D9EA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8642C639-816B-813A-6117-8DAC6C38B4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076274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EB7BBBF5-90C3-AF9C-0816-A48A02F4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F42CF7FF-A6C2-F122-8B86-5A6310603B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161FC5D0-C6D6-4C01-220C-836D97C808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590472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7C6132E4-6367-7B20-07E4-CB0DFFB23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DA2422DC-ED94-F312-68B0-9121141D06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400740F4-F92B-7CB9-D4DE-7EA4CFF1FF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18322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46FFCD6F-6FB7-8966-BF8E-0740EAEDE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12409662-C623-BF0E-6A88-3126C116AC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61246685-250A-350F-F659-D0F592269F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220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66595B04-A0DA-25D5-2506-DF55E0C2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D1ECE411-77D3-6725-116B-7462EF354F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C121FB25-DA63-4CC8-459E-3D70D91AF6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22056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02C5D153-9B6E-2306-999F-9E2C67704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70189A95-FBC3-83A7-A6F9-24D0B5ED2F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A4B4EC8D-5CB6-C22F-5671-FA0AD644DD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180285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CB4D8606-685D-E055-2BA9-140896586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4362F1B7-98BC-F1CD-F498-1F02DA4329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E55DBAFA-DF08-793F-416E-0079A89B41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28666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BB375DD8-8948-E413-3BC1-EE6DB7466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8B25F94B-487D-125F-A727-11B646A672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7EA17075-C63B-3FE1-30A6-A006F94D9B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68815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23BCDF0B-E469-BFAD-FD1E-030262624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3868520D-061E-8F9C-4981-E269801D1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C71C6B40-D563-4D58-45B8-E4B49E4D29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58999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333861BB-D2EC-0D2E-D4D2-3E63AB27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F58046CE-3531-C66B-1DF6-ABC4C5E365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38B2B5A7-4E1C-740A-2055-93F9B2026B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059796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07819D78-7822-CFD8-98A1-DEBA966B7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95384F6A-50E5-68B3-6CC7-B95B245EA3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1C8F3A97-B34F-DEE0-FB52-1DAD2D8C54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571238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AB403086-4229-C440-C797-ED0A757B2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B7588387-C13C-F7CD-F3F5-65F0B3CA56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237C7618-15C2-438A-15F2-90CA9A5F65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04279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>
          <a:extLst>
            <a:ext uri="{FF2B5EF4-FFF2-40B4-BE49-F238E27FC236}">
              <a16:creationId xmlns:a16="http://schemas.microsoft.com/office/drawing/2014/main" id="{EFAE67BF-FD18-413A-3B35-E91A95396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>
            <a:extLst>
              <a:ext uri="{FF2B5EF4-FFF2-40B4-BE49-F238E27FC236}">
                <a16:creationId xmlns:a16="http://schemas.microsoft.com/office/drawing/2014/main" id="{6A7B28E8-C0AB-E2EF-763B-EBC6A93B0C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04" name="Google Shape;104;p2:notes">
            <a:extLst>
              <a:ext uri="{FF2B5EF4-FFF2-40B4-BE49-F238E27FC236}">
                <a16:creationId xmlns:a16="http://schemas.microsoft.com/office/drawing/2014/main" id="{8314733F-532F-08FA-BD97-2134937D37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408403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306556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pt-BR" dirty="0"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/>
        </p:nvSpPr>
        <p:spPr>
          <a:xfrm>
            <a:off x="1212112" y="2961160"/>
            <a:ext cx="14747357" cy="1674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64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i="0" u="none" strike="noStrike" cap="none" dirty="0">
                <a:solidFill>
                  <a:srgbClr val="19191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Engenharia de Software</a:t>
            </a:r>
            <a:endParaRPr sz="8000" b="1" i="0" u="none" strike="noStrike" cap="none" dirty="0">
              <a:solidFill>
                <a:srgbClr val="19191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4850545" y="5302520"/>
            <a:ext cx="6164785" cy="1252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2500"/>
              </a:lnSpc>
            </a:pPr>
            <a:r>
              <a:rPr lang="en-US" sz="3600" dirty="0">
                <a:solidFill>
                  <a:srgbClr val="191919"/>
                </a:solidFill>
                <a:latin typeface="Arial Black"/>
                <a:ea typeface="Arial Black"/>
                <a:cs typeface="Arial Black"/>
                <a:sym typeface="Arial Black"/>
              </a:rPr>
              <a:t>Criminalidade no Paraná (2018–2024)</a:t>
            </a:r>
            <a:endParaRPr sz="3200" b="0" i="0" u="none" strike="noStrike" cap="none" dirty="0">
              <a:solidFill>
                <a:srgbClr val="191919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5" name="Google Shape;95;p13"/>
          <p:cNvSpPr txBox="1"/>
          <p:nvPr/>
        </p:nvSpPr>
        <p:spPr>
          <a:xfrm rot="5400000">
            <a:off x="14663205" y="5711877"/>
            <a:ext cx="6553198" cy="3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00"/>
              </a:lnSpc>
            </a:pPr>
            <a:r>
              <a:rPr lang="en-US" sz="1600" dirty="0">
                <a:solidFill>
                  <a:srgbClr val="7F7F7F"/>
                </a:solidFill>
              </a:rPr>
              <a:t>DATA SCIENCE</a:t>
            </a:r>
            <a:endParaRPr lang="en-US" sz="1600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767564" y="187896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93;p13"/>
          <p:cNvSpPr txBox="1"/>
          <p:nvPr/>
        </p:nvSpPr>
        <p:spPr>
          <a:xfrm>
            <a:off x="4559921" y="6737409"/>
            <a:ext cx="6746031" cy="1669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12500"/>
              </a:lnSpc>
            </a:pPr>
            <a:r>
              <a:rPr lang="pt-BR" sz="2400" b="1" dirty="0">
                <a:solidFill>
                  <a:srgbClr val="191919"/>
                </a:solidFill>
                <a:latin typeface="+mn-lt"/>
                <a:ea typeface="Arial Black"/>
                <a:cs typeface="Arial Black"/>
                <a:sym typeface="Arial Black"/>
              </a:rPr>
              <a:t>Nathan Mariotto</a:t>
            </a:r>
          </a:p>
          <a:p>
            <a:pPr lvl="0" algn="ctr">
              <a:lnSpc>
                <a:spcPct val="112500"/>
              </a:lnSpc>
            </a:pPr>
            <a:r>
              <a:rPr lang="pt-BR" sz="2400" b="1" dirty="0">
                <a:solidFill>
                  <a:srgbClr val="191919"/>
                </a:solidFill>
                <a:latin typeface="+mn-lt"/>
                <a:ea typeface="Arial Black"/>
                <a:cs typeface="Arial Black"/>
                <a:sym typeface="Arial Black"/>
              </a:rPr>
              <a:t>Gustavo Oliveira</a:t>
            </a:r>
          </a:p>
          <a:p>
            <a:pPr lvl="0" algn="ctr">
              <a:lnSpc>
                <a:spcPct val="112500"/>
              </a:lnSpc>
            </a:pPr>
            <a:r>
              <a:rPr lang="pt-BR" sz="2400" b="1" dirty="0">
                <a:solidFill>
                  <a:srgbClr val="191919"/>
                </a:solidFill>
                <a:latin typeface="+mn-lt"/>
                <a:ea typeface="Arial Black"/>
                <a:cs typeface="Arial Black"/>
                <a:sym typeface="Arial Black"/>
              </a:rPr>
              <a:t>Guilherme Vasconcelos</a:t>
            </a:r>
          </a:p>
          <a:p>
            <a:pPr lvl="0" algn="ctr">
              <a:lnSpc>
                <a:spcPct val="112500"/>
              </a:lnSpc>
            </a:pPr>
            <a:r>
              <a:rPr lang="pt-BR" sz="2400" b="1" dirty="0">
                <a:solidFill>
                  <a:srgbClr val="191919"/>
                </a:solidFill>
                <a:latin typeface="+mn-lt"/>
                <a:ea typeface="Arial Black"/>
                <a:cs typeface="Arial Black"/>
                <a:sym typeface="Arial Black"/>
              </a:rPr>
              <a:t>Leonardo Dias</a:t>
            </a:r>
            <a:endParaRPr sz="2400" b="1" i="0" u="none" strike="noStrike" cap="none" dirty="0">
              <a:solidFill>
                <a:srgbClr val="191919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  <p:sp>
        <p:nvSpPr>
          <p:cNvPr id="17" name="Google Shape;93;p13"/>
          <p:cNvSpPr txBox="1"/>
          <p:nvPr/>
        </p:nvSpPr>
        <p:spPr>
          <a:xfrm>
            <a:off x="4850545" y="9212501"/>
            <a:ext cx="6746031" cy="347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1919"/>
                </a:solidFill>
                <a:latin typeface="+mn-lt"/>
                <a:ea typeface="Arial Black"/>
                <a:cs typeface="Arial Black"/>
                <a:sym typeface="Arial Black"/>
              </a:rPr>
              <a:t>Toledo, 2025</a:t>
            </a:r>
            <a:endParaRPr sz="2000" b="1" i="0" u="none" strike="noStrike" cap="none" dirty="0">
              <a:solidFill>
                <a:srgbClr val="191919"/>
              </a:solidFill>
              <a:latin typeface="+mn-lt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/>
          <p:nvPr/>
        </p:nvSpPr>
        <p:spPr>
          <a:xfrm>
            <a:off x="1028700" y="2755900"/>
            <a:ext cx="148336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Analisar dados de criminalidade do IPARDES (2018–2024).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Identificar padrões temporais e espaciais.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Avaliar evolução de estelionato e mortes violentas intencionais.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Gerar insights úteis para políticas públicas de segurança.</a:t>
            </a:r>
            <a:endParaRPr sz="2800" b="0" i="0" u="none" strike="noStrike" cap="none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152400" y="9944100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rgbClr val="7F7F7F"/>
                </a:solidFill>
              </a:rPr>
              <a:t>DATA SCIENCE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732265" y="453072"/>
            <a:ext cx="11162030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OBJETIVO DO PROJETO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478DCFC3-E7B5-F042-00E7-821662831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A0B420C9-1D05-A3A7-50D5-362CD077CDB9}"/>
              </a:ext>
            </a:extLst>
          </p:cNvPr>
          <p:cNvSpPr txBox="1"/>
          <p:nvPr/>
        </p:nvSpPr>
        <p:spPr>
          <a:xfrm>
            <a:off x="1028700" y="2755900"/>
            <a:ext cx="14833600" cy="581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Fonte: IPARDES – Instituto Paranaense de Desenvolvimento Econômico.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Período analisado: 2018 a 2024.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Abrangência: 399 municípios + linha agregada do Estado.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Tipos de crimes analisados: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  - Patrimônio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  - Pessoa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  - Drogas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  - Armas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  - Mortes violentas intencionais</a:t>
            </a:r>
            <a:endParaRPr sz="2800" b="0" i="0" u="none" strike="noStrike" cap="none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CA9126C9-0D97-185C-DE16-87A6BC93E20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09DBA3AE-5656-EF62-5867-AC1C37AFB92B}"/>
              </a:ext>
            </a:extLst>
          </p:cNvPr>
          <p:cNvSpPr txBox="1"/>
          <p:nvPr/>
        </p:nvSpPr>
        <p:spPr>
          <a:xfrm>
            <a:off x="152400" y="9944100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rgbClr val="7F7F7F"/>
                </a:solidFill>
              </a:rPr>
              <a:t>DATA SCIENCE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FBB8C98-6E83-9EA9-EAA3-FB04935FB5C4}"/>
              </a:ext>
            </a:extLst>
          </p:cNvPr>
          <p:cNvSpPr/>
          <p:nvPr/>
        </p:nvSpPr>
        <p:spPr>
          <a:xfrm>
            <a:off x="732265" y="453072"/>
            <a:ext cx="1285480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BASE DE DADOS (IPARDES)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47592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4E738073-25B4-544D-A42F-469AEB7F3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5BD992E3-0C45-9C64-8B2A-510F1D9AC69B}"/>
              </a:ext>
            </a:extLst>
          </p:cNvPr>
          <p:cNvSpPr txBox="1"/>
          <p:nvPr/>
        </p:nvSpPr>
        <p:spPr>
          <a:xfrm>
            <a:off x="1028700" y="2755900"/>
            <a:ext cx="14833600" cy="45243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1. Coleta dos dados brutos.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2. Limpeza e padronização das tabelas.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3. Transformação das estruturas (wide → long).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4. Criação da variável analítica "grupo_crime".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5. Consultas, seleções e agrupamentos.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6. Visualizações gráficas.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7. Interpretação dos resultados e conclusões.</a:t>
            </a:r>
            <a:endParaRPr sz="2800" b="0" i="0" u="none" strike="noStrike" cap="none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779A56EA-E62A-6859-0C6E-AD6D25B605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26BD1B64-42D3-7144-F510-AD1CC9D5655A}"/>
              </a:ext>
            </a:extLst>
          </p:cNvPr>
          <p:cNvSpPr txBox="1"/>
          <p:nvPr/>
        </p:nvSpPr>
        <p:spPr>
          <a:xfrm>
            <a:off x="152400" y="9944100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rgbClr val="7F7F7F"/>
                </a:solidFill>
              </a:rPr>
              <a:t>DATA SCIENCE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13F20F6-170A-39D1-D865-6C5F16BBB922}"/>
              </a:ext>
            </a:extLst>
          </p:cNvPr>
          <p:cNvSpPr/>
          <p:nvPr/>
        </p:nvSpPr>
        <p:spPr>
          <a:xfrm>
            <a:off x="732265" y="453072"/>
            <a:ext cx="10700365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PIPELINE DO PROJETO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16031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B4E9C7BF-1214-FB49-2FBF-D5323E05D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5841E7E9-DF5C-B546-00BB-3BB6FAC3D47A}"/>
              </a:ext>
            </a:extLst>
          </p:cNvPr>
          <p:cNvSpPr txBox="1"/>
          <p:nvPr/>
        </p:nvSpPr>
        <p:spPr>
          <a:xfrm>
            <a:off x="1028700" y="2755900"/>
            <a:ext cx="14833600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Correção de encoding (UTF-16).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Ajuste de cabeçalhos duplos.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Conversão de valores numéricos.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Tratamento de vazios e caracteres especiais.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Padronização dos nomes de municípios.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Geração da base limpa: base_criminalidade_pr_limpa.csv.</a:t>
            </a:r>
            <a:endParaRPr sz="2800" b="0" i="0" u="none" strike="noStrike" cap="none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D6A6264B-124F-352F-2410-C42389E0F2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06997938-70D2-A726-C5C1-900605EFD57F}"/>
              </a:ext>
            </a:extLst>
          </p:cNvPr>
          <p:cNvSpPr txBox="1"/>
          <p:nvPr/>
        </p:nvSpPr>
        <p:spPr>
          <a:xfrm>
            <a:off x="152400" y="9944100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rgbClr val="7F7F7F"/>
                </a:solidFill>
              </a:rPr>
              <a:t>DATA SCIENCE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24A643D-43F4-A69C-9C30-80581318573B}"/>
              </a:ext>
            </a:extLst>
          </p:cNvPr>
          <p:cNvSpPr/>
          <p:nvPr/>
        </p:nvSpPr>
        <p:spPr>
          <a:xfrm>
            <a:off x="732265" y="453072"/>
            <a:ext cx="12187952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LIMPEZA E PREPARAÇÃO </a:t>
            </a:r>
          </a:p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DOS DADOS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21979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47E32C4D-ACE4-3051-1E06-E14889B1C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D56A2C74-3E69-95D4-49E9-7AD91F587B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E92EFE04-8A1D-03B2-FF3D-7163C244C383}"/>
              </a:ext>
            </a:extLst>
          </p:cNvPr>
          <p:cNvSpPr txBox="1"/>
          <p:nvPr/>
        </p:nvSpPr>
        <p:spPr>
          <a:xfrm>
            <a:off x="152400" y="9944100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rgbClr val="7F7F7F"/>
                </a:solidFill>
              </a:rPr>
              <a:t>DATA SCIENCE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5D89A1CA-7A1E-D7E8-B86C-BA3FB40FF689}"/>
              </a:ext>
            </a:extLst>
          </p:cNvPr>
          <p:cNvSpPr/>
          <p:nvPr/>
        </p:nvSpPr>
        <p:spPr>
          <a:xfrm>
            <a:off x="732265" y="453072"/>
            <a:ext cx="8392041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VISÃO GERAL DA </a:t>
            </a:r>
          </a:p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SÉRIE TEMPORAL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686EF71-C0D7-1993-786F-71CD4C956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258" y="3360107"/>
            <a:ext cx="11167483" cy="541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0503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65898E0E-B455-CAB8-20F1-8A7567882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4DD7E4C4-0D71-68DB-23DF-054B2E46C180}"/>
              </a:ext>
            </a:extLst>
          </p:cNvPr>
          <p:cNvSpPr txBox="1"/>
          <p:nvPr/>
        </p:nvSpPr>
        <p:spPr>
          <a:xfrm>
            <a:off x="732265" y="2761396"/>
            <a:ext cx="148336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Tendência geral: queda até 2020.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Forte aumento nos anos 2021 e 2022.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Estabilização em 2023–2024.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Comportamento relacionado ao contexto da pandemia.</a:t>
            </a:r>
            <a:endParaRPr sz="2800" b="0" i="0" u="none" strike="noStrike" cap="none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66BB710E-C393-63A0-237B-6FBDAABDB2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0E385081-BA44-0158-22E5-849B163745AB}"/>
              </a:ext>
            </a:extLst>
          </p:cNvPr>
          <p:cNvSpPr txBox="1"/>
          <p:nvPr/>
        </p:nvSpPr>
        <p:spPr>
          <a:xfrm>
            <a:off x="152400" y="9944100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rgbClr val="7F7F7F"/>
                </a:solidFill>
              </a:rPr>
              <a:t>DATA SCIENCE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E0F31AF-A11C-0C2C-379B-6F3039B2526E}"/>
              </a:ext>
            </a:extLst>
          </p:cNvPr>
          <p:cNvSpPr/>
          <p:nvPr/>
        </p:nvSpPr>
        <p:spPr>
          <a:xfrm>
            <a:off x="732265" y="453072"/>
            <a:ext cx="8392041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VISÃO GERAL DA </a:t>
            </a:r>
          </a:p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SÉRIE TEMPORAL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96466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914E6C8-3BE6-47F3-D816-7F7614BE9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72D2C4AE-EAC1-85AF-F850-B9EE87E0B4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976D14C2-E384-1B5D-1E08-6DE530EAE5D0}"/>
              </a:ext>
            </a:extLst>
          </p:cNvPr>
          <p:cNvSpPr txBox="1"/>
          <p:nvPr/>
        </p:nvSpPr>
        <p:spPr>
          <a:xfrm>
            <a:off x="152400" y="9944100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rgbClr val="7F7F7F"/>
                </a:solidFill>
              </a:rPr>
              <a:t>DATA SCIENCE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DBFC67D3-5F30-3162-1B57-1085E5F7717C}"/>
              </a:ext>
            </a:extLst>
          </p:cNvPr>
          <p:cNvSpPr/>
          <p:nvPr/>
        </p:nvSpPr>
        <p:spPr>
          <a:xfrm>
            <a:off x="732265" y="453072"/>
            <a:ext cx="957185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GRUPOS DE CRIMES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7BBDC58-43B6-4307-056D-890916C48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5953" y="2150511"/>
            <a:ext cx="11976093" cy="707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993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9745C68C-FB44-0FF2-C907-BE5F66AC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D78E8C04-81F0-094D-F607-E4A649060852}"/>
              </a:ext>
            </a:extLst>
          </p:cNvPr>
          <p:cNvSpPr txBox="1"/>
          <p:nvPr/>
        </p:nvSpPr>
        <p:spPr>
          <a:xfrm>
            <a:off x="1028700" y="2755900"/>
            <a:ext cx="14833600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Principais categorias criadas: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Crimes contra o patrimônio.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Crimes contra a pessoa (não letais).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Drogas.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Mortes violentas intencionais.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Armas de fogo apreendidas.</a:t>
            </a:r>
            <a:endParaRPr sz="2800" b="0" i="0" u="none" strike="noStrike" cap="none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1217DFF7-31E5-241F-768A-8929DC8D22E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8ED0BA5B-7748-51E5-C286-141573F2C10B}"/>
              </a:ext>
            </a:extLst>
          </p:cNvPr>
          <p:cNvSpPr txBox="1"/>
          <p:nvPr/>
        </p:nvSpPr>
        <p:spPr>
          <a:xfrm>
            <a:off x="152400" y="9944100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rgbClr val="7F7F7F"/>
                </a:solidFill>
              </a:rPr>
              <a:t>DATA SCIENCE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E33FD7A0-ACF8-CCC4-6ED9-F4A9ECEE39F0}"/>
              </a:ext>
            </a:extLst>
          </p:cNvPr>
          <p:cNvSpPr/>
          <p:nvPr/>
        </p:nvSpPr>
        <p:spPr>
          <a:xfrm>
            <a:off x="732265" y="453072"/>
            <a:ext cx="957185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GRUPOS DE CRIMES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8306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D23143D7-FDF2-17E4-454E-B43EADE3B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07646AAC-B39B-7965-DF26-0CD49B99EB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69F98B8F-7DFB-F8AC-1339-BDFF66D2503D}"/>
              </a:ext>
            </a:extLst>
          </p:cNvPr>
          <p:cNvSpPr txBox="1"/>
          <p:nvPr/>
        </p:nvSpPr>
        <p:spPr>
          <a:xfrm>
            <a:off x="152400" y="9944100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rgbClr val="7F7F7F"/>
                </a:solidFill>
              </a:rPr>
              <a:t>DATA SCIENCE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DAF5066-DFAE-863B-2E2C-6DC82FFC911F}"/>
              </a:ext>
            </a:extLst>
          </p:cNvPr>
          <p:cNvSpPr/>
          <p:nvPr/>
        </p:nvSpPr>
        <p:spPr>
          <a:xfrm>
            <a:off x="732265" y="453072"/>
            <a:ext cx="9930924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MORTES VIOLENTAS </a:t>
            </a:r>
          </a:p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INTENCIONAIS (MVI)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3EC33C-57A7-94F4-F011-1944DCC87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3383" y="3328899"/>
            <a:ext cx="10901233" cy="5296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452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8C3D721C-9CD6-B8F9-44C9-789A70AA7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ABC5E668-A378-8CF3-5E7A-3B142CDE10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057D4509-9077-E0D4-D074-4FE221FB7033}"/>
              </a:ext>
            </a:extLst>
          </p:cNvPr>
          <p:cNvSpPr txBox="1"/>
          <p:nvPr/>
        </p:nvSpPr>
        <p:spPr>
          <a:xfrm>
            <a:off x="152400" y="9944100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rgbClr val="7F7F7F"/>
                </a:solidFill>
              </a:rPr>
              <a:t>DATA SCIENCE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DCD1578-1D41-A1DD-7071-218AFCC06772}"/>
              </a:ext>
            </a:extLst>
          </p:cNvPr>
          <p:cNvSpPr/>
          <p:nvPr/>
        </p:nvSpPr>
        <p:spPr>
          <a:xfrm>
            <a:off x="732265" y="453072"/>
            <a:ext cx="9930924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MORTES VIOLENTAS </a:t>
            </a:r>
          </a:p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INTENCIONAIS (MVI)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1C71954-7767-BEDC-5C62-DB94563FA2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201" y="3210188"/>
            <a:ext cx="11507597" cy="560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145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18FF7080-6709-ADBF-E434-487A2CA17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374AB30C-CDE5-6280-A7BC-5703EF5ACF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7977366A-014F-C978-085F-395C1DF5C3C4}"/>
              </a:ext>
            </a:extLst>
          </p:cNvPr>
          <p:cNvSpPr txBox="1"/>
          <p:nvPr/>
        </p:nvSpPr>
        <p:spPr>
          <a:xfrm>
            <a:off x="152400" y="9944100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rgbClr val="7F7F7F"/>
                </a:solidFill>
              </a:rPr>
              <a:t>DATA SCIENCE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108342C9-88F5-09F2-A539-C88F6BBA5335}"/>
              </a:ext>
            </a:extLst>
          </p:cNvPr>
          <p:cNvSpPr/>
          <p:nvPr/>
        </p:nvSpPr>
        <p:spPr>
          <a:xfrm>
            <a:off x="732265" y="453072"/>
            <a:ext cx="9930924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MORTES VIOLENTAS </a:t>
            </a:r>
          </a:p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INTENCIONAIS (MVI)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32CAEF3-1787-23F3-CDBF-9A8E9561A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9689" y="2888494"/>
            <a:ext cx="10828621" cy="6404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672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B2F123DE-DAD3-B27E-93E6-565CBABCC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D260516C-78DF-816C-590A-32EB711D0024}"/>
              </a:ext>
            </a:extLst>
          </p:cNvPr>
          <p:cNvSpPr txBox="1"/>
          <p:nvPr/>
        </p:nvSpPr>
        <p:spPr>
          <a:xfrm>
            <a:off x="1028700" y="2755900"/>
            <a:ext cx="148336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Baixo volume absoluto, porém alta gravidade social.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Homicídio doloso é o tipo predominante.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Concentração em grandes centros urbanos.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Variação anual moderada ao longo da série.</a:t>
            </a:r>
            <a:endParaRPr sz="2800" b="0" i="0" u="none" strike="noStrike" cap="none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9EAF08F9-ABFE-F274-A3D5-8E76D19A48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8FF76987-0B6B-30B8-9D59-562E06A3D633}"/>
              </a:ext>
            </a:extLst>
          </p:cNvPr>
          <p:cNvSpPr txBox="1"/>
          <p:nvPr/>
        </p:nvSpPr>
        <p:spPr>
          <a:xfrm>
            <a:off x="152400" y="9944100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rgbClr val="7F7F7F"/>
                </a:solidFill>
              </a:rPr>
              <a:t>DATA SCIENCE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8A8AD3E8-473E-9D73-A134-385612298BD0}"/>
              </a:ext>
            </a:extLst>
          </p:cNvPr>
          <p:cNvSpPr/>
          <p:nvPr/>
        </p:nvSpPr>
        <p:spPr>
          <a:xfrm>
            <a:off x="732265" y="453072"/>
            <a:ext cx="9930924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MORTES VIOLENTAS </a:t>
            </a:r>
          </a:p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INTENCIONAIS (MVI)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5662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30DB4BA4-4EF3-2CD5-446E-13DBFFCBD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BF5369DE-CD53-4E0C-CB18-4CFE3DD336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77381898-BDAE-35C8-0CC1-5CF8AC59F43F}"/>
              </a:ext>
            </a:extLst>
          </p:cNvPr>
          <p:cNvSpPr txBox="1"/>
          <p:nvPr/>
        </p:nvSpPr>
        <p:spPr>
          <a:xfrm>
            <a:off x="152400" y="9944100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rgbClr val="7F7F7F"/>
                </a:solidFill>
              </a:rPr>
              <a:t>DATA SCIENCE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8E4C4DB-5EBD-E77A-4884-09457B03E02A}"/>
              </a:ext>
            </a:extLst>
          </p:cNvPr>
          <p:cNvSpPr/>
          <p:nvPr/>
        </p:nvSpPr>
        <p:spPr>
          <a:xfrm>
            <a:off x="732265" y="453072"/>
            <a:ext cx="9007594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ESTELIONATO NO </a:t>
            </a:r>
          </a:p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PERÍODO PÓS-2020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B81889F-A598-0BD9-8369-96D1D77E44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9434" y="3085988"/>
            <a:ext cx="11369131" cy="5553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354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4A833DF3-3C11-0087-C58B-4BA2AD40F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F283B00B-3C2A-D68E-CABB-111D04A8F87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6EA49541-82C1-CE4C-CDF9-FBFE7677523E}"/>
              </a:ext>
            </a:extLst>
          </p:cNvPr>
          <p:cNvSpPr txBox="1"/>
          <p:nvPr/>
        </p:nvSpPr>
        <p:spPr>
          <a:xfrm>
            <a:off x="152400" y="9944100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rgbClr val="7F7F7F"/>
                </a:solidFill>
              </a:rPr>
              <a:t>DATA SCIENCE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23F55AD7-4022-31CC-87C3-7E3098E1A121}"/>
              </a:ext>
            </a:extLst>
          </p:cNvPr>
          <p:cNvSpPr/>
          <p:nvPr/>
        </p:nvSpPr>
        <p:spPr>
          <a:xfrm>
            <a:off x="732265" y="453072"/>
            <a:ext cx="9007594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ESTELIONATO NO </a:t>
            </a:r>
          </a:p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PERÍODO PÓS-2020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7C8C6D8-C2A9-1B78-6725-F60FC15AD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5940" y="3172638"/>
            <a:ext cx="11536119" cy="5612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821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D8360B04-D843-0F7A-5B5C-BCDA3907E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7158433F-7CD4-A199-8CCB-DE873F943B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6AF1A82D-5185-1CE8-E6FC-77F84E1B0A7A}"/>
              </a:ext>
            </a:extLst>
          </p:cNvPr>
          <p:cNvSpPr txBox="1"/>
          <p:nvPr/>
        </p:nvSpPr>
        <p:spPr>
          <a:xfrm>
            <a:off x="152400" y="9944100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rgbClr val="7F7F7F"/>
                </a:solidFill>
              </a:rPr>
              <a:t>DATA SCIENCE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7A41D20-FA8C-3822-41E6-9EBCBCAF3CBE}"/>
              </a:ext>
            </a:extLst>
          </p:cNvPr>
          <p:cNvSpPr/>
          <p:nvPr/>
        </p:nvSpPr>
        <p:spPr>
          <a:xfrm>
            <a:off x="732265" y="453072"/>
            <a:ext cx="9007594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ESTELIONATO NO </a:t>
            </a:r>
          </a:p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PERÍODO PÓS-2020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F532120-E55A-8F34-6C1A-4AD6BCA92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7473" y="2761396"/>
            <a:ext cx="12273053" cy="602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814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F8F33193-593F-58B0-8CE3-DC89F78F1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B5176297-A87F-67FF-EBB1-57600E3C8478}"/>
              </a:ext>
            </a:extLst>
          </p:cNvPr>
          <p:cNvSpPr txBox="1"/>
          <p:nvPr/>
        </p:nvSpPr>
        <p:spPr>
          <a:xfrm>
            <a:off x="1028700" y="2755900"/>
            <a:ext cx="148336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Crescimento significativo após 2020.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Possível relação com golpes digitais e aumento de transações online.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Alguns municípios apresentam crescimento muito acima da média.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Importante indicador de criminalidade econômica.</a:t>
            </a:r>
            <a:endParaRPr sz="2800" b="0" i="0" u="none" strike="noStrike" cap="none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5E3C62B1-6173-6B55-2E77-841B675036E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60C94959-FF43-B1FA-2F17-50D01ED4D4AF}"/>
              </a:ext>
            </a:extLst>
          </p:cNvPr>
          <p:cNvSpPr txBox="1"/>
          <p:nvPr/>
        </p:nvSpPr>
        <p:spPr>
          <a:xfrm>
            <a:off x="152400" y="9944100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rgbClr val="7F7F7F"/>
                </a:solidFill>
              </a:rPr>
              <a:t>DATA SCIENCE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9956934-81F7-5F1D-63F1-A00BCE8B2584}"/>
              </a:ext>
            </a:extLst>
          </p:cNvPr>
          <p:cNvSpPr/>
          <p:nvPr/>
        </p:nvSpPr>
        <p:spPr>
          <a:xfrm>
            <a:off x="732265" y="453072"/>
            <a:ext cx="9007594" cy="230832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ESTELIONATO NO </a:t>
            </a:r>
          </a:p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PERÍODO PÓS-2020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80849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89D34687-75D5-8757-21FE-AAEBF85B8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9DE0AEB0-3A7D-63B2-BAE8-A0CF9E362434}"/>
              </a:ext>
            </a:extLst>
          </p:cNvPr>
          <p:cNvSpPr txBox="1"/>
          <p:nvPr/>
        </p:nvSpPr>
        <p:spPr>
          <a:xfrm>
            <a:off x="1028700" y="2755900"/>
            <a:ext cx="14833600" cy="38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Impacto claro da pandemia em 2020, com queda acentuada.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Retomada e aumento das ocorrências em 2021 e 2022.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Crimes patrimoniais exercem maior peso no total.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Estelionato se destaca como categoria que mais cresce.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Mortes violentas permanecem estáveis, porém relevantes.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Estudos futuros podem incluir taxa por população e análise geográfica.</a:t>
            </a:r>
            <a:endParaRPr sz="2800" b="0" i="0" u="none" strike="noStrike" cap="none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04D74543-D3D1-3C39-BFE5-4C80BB2D69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EA530E1C-CB02-C4B6-4E98-D9C5CF62A029}"/>
              </a:ext>
            </a:extLst>
          </p:cNvPr>
          <p:cNvSpPr txBox="1"/>
          <p:nvPr/>
        </p:nvSpPr>
        <p:spPr>
          <a:xfrm>
            <a:off x="152400" y="9944100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rgbClr val="7F7F7F"/>
                </a:solidFill>
              </a:rPr>
              <a:t>DATA SCIENCE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CBB1567-310A-8F18-0D6A-DC0B5CCA4713}"/>
              </a:ext>
            </a:extLst>
          </p:cNvPr>
          <p:cNvSpPr/>
          <p:nvPr/>
        </p:nvSpPr>
        <p:spPr>
          <a:xfrm>
            <a:off x="732265" y="453072"/>
            <a:ext cx="1049518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CONCLUSÕES GERAIS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0008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21C28CA8-7281-673D-0BAF-8BF804F02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>
            <a:extLst>
              <a:ext uri="{FF2B5EF4-FFF2-40B4-BE49-F238E27FC236}">
                <a16:creationId xmlns:a16="http://schemas.microsoft.com/office/drawing/2014/main" id="{5CC31015-9EE4-F069-1F06-E2B04002BEAA}"/>
              </a:ext>
            </a:extLst>
          </p:cNvPr>
          <p:cNvSpPr txBox="1"/>
          <p:nvPr/>
        </p:nvSpPr>
        <p:spPr>
          <a:xfrm>
            <a:off x="1028700" y="2755900"/>
            <a:ext cx="14833600" cy="3231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Python (Pandas, NumPy)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Matplotlib e Seaborn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Jupyter Notebook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GitHub para versionamento</a:t>
            </a:r>
          </a:p>
          <a:p>
            <a:pPr lvl="0" algn="just">
              <a:lnSpc>
                <a:spcPct val="150000"/>
              </a:lnSpc>
            </a:pPr>
            <a:r>
              <a:rPr lang="pt-BR" sz="2800" dirty="0">
                <a:solidFill>
                  <a:srgbClr val="191919"/>
                </a:solidFill>
              </a:rPr>
              <a:t>• IPARDES como fonte oficial de dados</a:t>
            </a:r>
            <a:endParaRPr sz="2800" b="0" i="0" u="none" strike="noStrike" cap="none" dirty="0">
              <a:solidFill>
                <a:srgbClr val="19191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4">
            <a:extLst>
              <a:ext uri="{FF2B5EF4-FFF2-40B4-BE49-F238E27FC236}">
                <a16:creationId xmlns:a16="http://schemas.microsoft.com/office/drawing/2014/main" id="{8D1479F2-52F4-24D5-6C24-DEC940CC78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>
            <a:extLst>
              <a:ext uri="{FF2B5EF4-FFF2-40B4-BE49-F238E27FC236}">
                <a16:creationId xmlns:a16="http://schemas.microsoft.com/office/drawing/2014/main" id="{AF73BB1C-6505-B781-31AA-4DF7C488838A}"/>
              </a:ext>
            </a:extLst>
          </p:cNvPr>
          <p:cNvSpPr txBox="1"/>
          <p:nvPr/>
        </p:nvSpPr>
        <p:spPr>
          <a:xfrm>
            <a:off x="152400" y="9944100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rgbClr val="7F7F7F"/>
                </a:solidFill>
              </a:rPr>
              <a:t>DATA SCIENCE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F66B1AB-69F8-23F1-EB2E-5E69834F3A61}"/>
              </a:ext>
            </a:extLst>
          </p:cNvPr>
          <p:cNvSpPr/>
          <p:nvPr/>
        </p:nvSpPr>
        <p:spPr>
          <a:xfrm>
            <a:off x="732265" y="453072"/>
            <a:ext cx="1270091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pt-BR" sz="7200" b="1" dirty="0">
                <a:ln w="0"/>
                <a:solidFill>
                  <a:srgbClr val="416D3F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</a:rPr>
              <a:t>TECNOLOGIAS UTILIZADAS</a:t>
            </a:r>
            <a:endParaRPr lang="pt-BR" sz="7200" b="1" cap="none" spc="0" dirty="0">
              <a:ln w="0"/>
              <a:solidFill>
                <a:srgbClr val="416D3F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034529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52" y="30687"/>
            <a:ext cx="18274748" cy="1030356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0"/>
          <p:cNvSpPr txBox="1"/>
          <p:nvPr/>
        </p:nvSpPr>
        <p:spPr>
          <a:xfrm>
            <a:off x="2649234" y="3595251"/>
            <a:ext cx="13002784" cy="2437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90000"/>
              </a:lnSpc>
            </a:pPr>
            <a:r>
              <a:rPr lang="en-US" sz="8800" b="1" dirty="0">
                <a:solidFill>
                  <a:srgbClr val="416D3F"/>
                </a:solidFill>
              </a:rPr>
              <a:t>Obrigado pela atenção!</a:t>
            </a:r>
          </a:p>
          <a:p>
            <a:pPr lvl="0" algn="ctr">
              <a:lnSpc>
                <a:spcPct val="90000"/>
              </a:lnSpc>
            </a:pPr>
            <a:r>
              <a:rPr lang="en-US" sz="8800" b="1" dirty="0">
                <a:solidFill>
                  <a:srgbClr val="416D3F"/>
                </a:solidFill>
              </a:rPr>
              <a:t>Perguntas?</a:t>
            </a:r>
            <a:endParaRPr sz="8800" b="1" u="none" dirty="0">
              <a:solidFill>
                <a:srgbClr val="416D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0"/>
          <p:cNvSpPr txBox="1"/>
          <p:nvPr/>
        </p:nvSpPr>
        <p:spPr>
          <a:xfrm>
            <a:off x="187288" y="9954692"/>
            <a:ext cx="6899312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dirty="0">
                <a:solidFill>
                  <a:schemeClr val="bg1"/>
                </a:solidFill>
              </a:rPr>
              <a:t>DATA SCIENCE</a:t>
            </a:r>
          </a:p>
        </p:txBody>
      </p:sp>
      <p:pic>
        <p:nvPicPr>
          <p:cNvPr id="214" name="Google Shape;214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078200" y="132331"/>
            <a:ext cx="1977483" cy="168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560</Words>
  <Application>Microsoft Office PowerPoint</Application>
  <PresentationFormat>Personalizar</PresentationFormat>
  <Paragraphs>113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4" baseType="lpstr">
      <vt:lpstr>Calibri</vt:lpstr>
      <vt:lpstr>Arial</vt:lpstr>
      <vt:lpstr>Arial Black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Nathan Mariotto</cp:lastModifiedBy>
  <cp:revision>17</cp:revision>
  <dcterms:modified xsi:type="dcterms:W3CDTF">2025-11-26T05:17:25Z</dcterms:modified>
</cp:coreProperties>
</file>